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0"/>
            <a:ext cx="54864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943A"/>
                </a:solidFill>
              </a:rPr>
              <a:t>FINNOVATE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869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ABEA0"/>
                </a:solidFill>
              </a:rPr>
              <a:t>FinancialOPD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Wealth of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Startup Investing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943A"/>
                </a:solidFill>
              </a:rPr>
              <a:t>Why India's Top Doctors Should Be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9943A"/>
                </a:solidFill>
              </a:rPr>
              <a:t>At the Table — Now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3200400" cy="36576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69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5E"/>
                </a:solidFill>
              </a:rPr>
              <a:t>Concept Presentation  |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0" y="1554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Angel Network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2423160"/>
            <a:ext cx="13716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4871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43A"/>
                </a:solidFill>
              </a:rPr>
              <a:t>HAN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40880" y="31272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BEA0"/>
                </a:solidFill>
              </a:rPr>
              <a:t>Powered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BEA0"/>
                </a:solidFill>
              </a:rPr>
              <a:t>Finnovate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9943A"/>
                </a:solidFill>
              </a:rPr>
              <a:t>Section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From Inception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to IPO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BFA0"/>
                </a:solidFill>
              </a:rPr>
              <a:t>Where the real money is made — and who makes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6B5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C8B8"/>
                </a:solidFill>
              </a:rPr>
              <a:t>SECTION 1  ›  From Inception to IPO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E1F"/>
                </a:solidFill>
              </a:rPr>
              <a:t>Who Captures the Most Value?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268"/>
                </a:solidFill>
              </a:rPr>
              <a:t>At every stage of a startup's journey, different investors enter — at very different valuations.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4036790" cy="62179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403679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Angel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221992"/>
            <a:ext cx="40367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43A"/>
                </a:solidFill>
              </a:rPr>
              <a:t>~200x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40367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Pre-revenue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stage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31150" y="1554480"/>
            <a:ext cx="1587284" cy="621792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1150" y="1554480"/>
            <a:ext cx="158728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31150" y="2221992"/>
            <a:ext cx="15872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6E4B"/>
                </a:solidFill>
              </a:rPr>
              <a:t>~80x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31150" y="2560320"/>
            <a:ext cx="15872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Early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traction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64154" y="1554480"/>
            <a:ext cx="731349" cy="621792"/>
          </a:xfrm>
          <a:prstGeom prst="rect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4154" y="1554480"/>
            <a:ext cx="731349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64154" y="2221992"/>
            <a:ext cx="7313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35"/>
                </a:solidFill>
              </a:rPr>
              <a:t>~35x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4154" y="2560320"/>
            <a:ext cx="73134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Growth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stage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41223" y="1554480"/>
            <a:ext cx="731349" cy="621792"/>
          </a:xfrm>
          <a:prstGeom prst="rect">
            <a:avLst/>
          </a:prstGeom>
          <a:solidFill>
            <a:srgbClr val="4A7A5E"/>
          </a:solidFill>
          <a:ln w="12700">
            <a:solidFill>
              <a:srgbClr val="4A7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1223" y="1554480"/>
            <a:ext cx="731349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Pre-IPO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41223" y="2221992"/>
            <a:ext cx="7313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A5E"/>
                </a:solidFill>
              </a:rPr>
              <a:t>~15x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1223" y="2560320"/>
            <a:ext cx="73134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Late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stage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818291" y="1554480"/>
            <a:ext cx="731349" cy="621792"/>
          </a:xfrm>
          <a:prstGeom prst="rect">
            <a:avLst/>
          </a:prstGeom>
          <a:solidFill>
            <a:srgbClr val="5C7268"/>
          </a:solidFill>
          <a:ln w="12700">
            <a:solidFill>
              <a:srgbClr val="5C72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291" y="1554480"/>
            <a:ext cx="731349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IPO / Public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18291" y="2221992"/>
            <a:ext cx="7313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268"/>
                </a:solidFill>
              </a:rPr>
              <a:t>~5x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18291" y="2560320"/>
            <a:ext cx="73134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Market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C7268"/>
                </a:solidFill>
              </a:rPr>
              <a:t>price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8640" y="2907792"/>
            <a:ext cx="8046720" cy="0"/>
          </a:xfrm>
          <a:prstGeom prst="line">
            <a:avLst/>
          </a:prstGeom>
          <a:noFill/>
          <a:ln w="15240">
            <a:solidFill>
              <a:srgbClr val="2A6E4B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48640" y="29443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6E4B"/>
                </a:solidFill>
              </a:rPr>
              <a:t>▶  Startup journey — Time &amp; Scale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310128"/>
            <a:ext cx="8412480" cy="868680"/>
          </a:xfrm>
          <a:prstGeom prst="rect">
            <a:avLst/>
          </a:prstGeom>
          <a:solidFill>
            <a:srgbClr val="E8F3EE"/>
          </a:solidFill>
          <a:ln w="6350">
            <a:solidFill>
              <a:srgbClr val="2A6E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310128"/>
            <a:ext cx="109728" cy="86868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35584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4"/>
                </a:solidFill>
              </a:rPr>
              <a:t>Angel investors who enter at the earliest stage routinely see 50–200x returns by IPO. VC funds average 20–80x. Late PE and pre-IPO investors typically earn 5–20x. The earlier you enter, the greater the compounding advantage.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C8B8"/>
                </a:solidFill>
              </a:rPr>
              <a:t>SECTION 1  ›  IPO Case Study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0" y="521208"/>
            <a:ext cx="3474720" cy="4622292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521208"/>
            <a:ext cx="54864" cy="462229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6583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943A"/>
                </a:solidFill>
              </a:rPr>
              <a:t>CASE STUDY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914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Ather Energy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8600" y="1481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BEA0"/>
                </a:solidFill>
              </a:rPr>
              <a:t>India's premium EV two-wheeler maker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BEA0"/>
                </a:solidFill>
              </a:rPr>
              <a:t>IPO Listed: 2025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148840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6712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Angel / Seed Round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2386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~2013–14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05840" y="23865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~₹5 Cr valuation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642616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6090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Hero MotoCorp (Strategic)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28803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2016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05840" y="28803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~₹200 Cr valuation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136392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546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Series D (Tiger Global +)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337413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2021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05840" y="33741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~₹8,500 Cr valuation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3630168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484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IPO Issue Price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386791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2025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05840" y="38679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₹321 per share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4123944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42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Market Cap at IPO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43616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2025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05840" y="43616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~₹12,000 Cr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49040" y="6583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1F"/>
                </a:solidFill>
              </a:rPr>
              <a:t>Investor Returns at IPO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749040" y="1188720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49040" y="1188720"/>
            <a:ext cx="91440" cy="80467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1261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4"/>
                </a:solidFill>
              </a:rPr>
              <a:t>Angel Investors (Seed Stage)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15727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8"/>
                </a:solidFill>
              </a:rPr>
              <a:t>Entered at ~₹5 Cr valuation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98080" y="1280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943A"/>
                </a:solidFill>
              </a:rPr>
              <a:t>150–200x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49040" y="2075688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49040" y="2075688"/>
            <a:ext cx="91440" cy="804672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0" y="2148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4"/>
                </a:solidFill>
              </a:rPr>
              <a:t>Early VC (Hero MotoCorp, etc.)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24597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8"/>
                </a:solidFill>
              </a:rPr>
              <a:t>Entered at ~₹150–200 Cr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98080" y="216712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6E4B"/>
                </a:solidFill>
              </a:rPr>
              <a:t>~50–60x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749040" y="2962656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749040" y="2962656"/>
            <a:ext cx="91440" cy="804672"/>
          </a:xfrm>
          <a:prstGeom prst="rect">
            <a:avLst/>
          </a:prstGeom>
          <a:solidFill>
            <a:srgbClr val="5C7268"/>
          </a:solidFill>
          <a:ln w="12700">
            <a:solidFill>
              <a:srgbClr val="5C72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30358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4"/>
                </a:solidFill>
              </a:rPr>
              <a:t>Series D Investors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931920" y="33467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8"/>
                </a:solidFill>
              </a:rPr>
              <a:t>Entered at ~₹8,500 Cr in 2021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98080" y="305409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C7268"/>
                </a:solidFill>
              </a:rPr>
              <a:t>~1.4x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3749040" y="3849624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749040" y="3849624"/>
            <a:ext cx="91440" cy="804672"/>
          </a:xfrm>
          <a:prstGeom prst="rect">
            <a:avLst/>
          </a:prstGeom>
          <a:solidFill>
            <a:srgbClr val="5C7268"/>
          </a:solidFill>
          <a:ln w="12700">
            <a:solidFill>
              <a:srgbClr val="5C72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39227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4"/>
                </a:solidFill>
              </a:rPr>
              <a:t>Pre-IPO Investors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931920" y="4233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8"/>
                </a:solidFill>
              </a:rPr>
              <a:t>Entered months before listing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498080" y="394106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7268"/>
                </a:solidFill>
              </a:rPr>
              <a:t>~1.1–1.3x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749040" y="4736592"/>
            <a:ext cx="5212080" cy="274320"/>
          </a:xfrm>
          <a:prstGeom prst="rect">
            <a:avLst/>
          </a:prstGeom>
          <a:solidFill>
            <a:srgbClr val="F7EDCF"/>
          </a:solidFill>
          <a:ln w="6350">
            <a:solidFill>
              <a:srgbClr val="C994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22192" y="47365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00"/>
                </a:solidFill>
              </a:rPr>
              <a:t>★  The angel return was 100x+ greater than a pre-IPO position in the same company.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C8B8"/>
                </a:solidFill>
              </a:rPr>
              <a:t>SECTION 1  ›  IPO Case Study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0" y="521208"/>
            <a:ext cx="3474720" cy="4622292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521208"/>
            <a:ext cx="54864" cy="4622292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6583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A6E4B"/>
                </a:solidFill>
              </a:rPr>
              <a:t>CASE STUDY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914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Pristyn Care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8600" y="14813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BEA0"/>
                </a:solidFill>
              </a:rPr>
              <a:t>Tech-enabled surgical care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BEA0"/>
                </a:solidFill>
              </a:rPr>
              <a:t>(IPO preparation stage, 2025–26)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148840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6712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Angel / Seed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2386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2018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05840" y="23865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~₹5–10 Cr valuation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642616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6090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Series A (Sequoia India)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28803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2019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05840" y="28803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~₹70 Cr valuation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136392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546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Series C (Tiger Global)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337413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2020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05840" y="33741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~₹900 Cr valuation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3630168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484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Series 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386791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2021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05840" y="38679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~₹6,500 Cr valuation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4123944"/>
            <a:ext cx="3063240" cy="438912"/>
          </a:xfrm>
          <a:prstGeom prst="rect">
            <a:avLst/>
          </a:prstGeom>
          <a:solidFill>
            <a:srgbClr val="0D2419"/>
          </a:solidFill>
          <a:ln w="12700">
            <a:solidFill>
              <a:srgbClr val="0D24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42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EA0"/>
                </a:solidFill>
              </a:rPr>
              <a:t>Pre-IPO (est.)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43616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943A"/>
                </a:solidFill>
              </a:rPr>
              <a:t>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05840" y="43616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~₹10,000 Cr valuation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49040" y="6583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1F"/>
                </a:solidFill>
              </a:rPr>
              <a:t>Projected Investor Returns at IPO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749040" y="1188720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49040" y="1188720"/>
            <a:ext cx="91440" cy="80467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1261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4"/>
                </a:solidFill>
              </a:rPr>
              <a:t>Angel Investors (Seed, 2018)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15727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8"/>
                </a:solidFill>
              </a:rPr>
              <a:t>Entered at ~₹5–10 Cr valuation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1280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43A"/>
                </a:solidFill>
              </a:rPr>
              <a:t>500–1000x*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749040" y="2075688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49040" y="2075688"/>
            <a:ext cx="91440" cy="804672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0" y="2148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4"/>
                </a:solidFill>
              </a:rPr>
              <a:t>Series A — Sequoia India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24597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8"/>
                </a:solidFill>
              </a:rPr>
              <a:t>Entered ~₹70 Cr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2167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6E4B"/>
                </a:solidFill>
              </a:rPr>
              <a:t>~140x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3749040" y="2962656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749040" y="2962656"/>
            <a:ext cx="91440" cy="804672"/>
          </a:xfrm>
          <a:prstGeom prst="rect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30358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4"/>
                </a:solidFill>
              </a:rPr>
              <a:t>Series C — Tiger Global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931920" y="33467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8"/>
                </a:solidFill>
              </a:rPr>
              <a:t>Entered ~₹900 Cr in 2020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305409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4D35"/>
                </a:solidFill>
              </a:rPr>
              <a:t>~11x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3749040" y="3849624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749040" y="3849624"/>
            <a:ext cx="91440" cy="804672"/>
          </a:xfrm>
          <a:prstGeom prst="rect">
            <a:avLst/>
          </a:prstGeom>
          <a:solidFill>
            <a:srgbClr val="5C7268"/>
          </a:solidFill>
          <a:ln w="12700">
            <a:solidFill>
              <a:srgbClr val="5C72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39227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4"/>
                </a:solidFill>
              </a:rPr>
              <a:t>Series E Investors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931920" y="4233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8"/>
                </a:solidFill>
              </a:rPr>
              <a:t>Entered ₹6,500 Cr in 2021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0" y="394106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C7268"/>
                </a:solidFill>
              </a:rPr>
              <a:t>~1.5x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3749040" y="4736592"/>
            <a:ext cx="5212080" cy="274320"/>
          </a:xfrm>
          <a:prstGeom prst="rect">
            <a:avLst/>
          </a:prstGeom>
          <a:solidFill>
            <a:srgbClr val="E8F3EE"/>
          </a:solidFill>
          <a:ln w="6350">
            <a:solidFill>
              <a:srgbClr val="2A6E4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22192" y="47365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E1F"/>
                </a:solidFill>
              </a:rPr>
              <a:t>★  Healthcare-focused startups offer BOTH domain familiarity AND outsized returns for doctors.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Why High-Networth Doctors Should Take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Startup Investing Seriously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286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27632"/>
            <a:ext cx="4114800" cy="137160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4708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8105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 Unmatched by Traditional Assets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22860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FA0"/>
                </a:solidFill>
              </a:rPr>
              <a:t>FDs yield ~7%. Listed equity averages 12–15%. Early-stage angels in healthcare startups have historically earned multiples that no traditional asset class comes close to.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3218688"/>
            <a:ext cx="4114800" cy="137160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3814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401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Domain Expertise Is Your Unfair Edge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21208" y="38770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FA0"/>
                </a:solidFill>
              </a:rPr>
              <a:t>As a doctor, you can evaluate clinical viability, patient demand, and regulatory pathways better than any generalist fund manager. That edge translates directly into better investment decisions.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54880" y="1627632"/>
            <a:ext cx="4114800" cy="137160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4708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18105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Portfolio Diversification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56048" y="22860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FA0"/>
                </a:solidFill>
              </a:rPr>
              <a:t>Beyond real estate and mutual funds, startup equity provides high-growth, uncorrelated assets that protect and compound long-term wealth across market cycles.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54880" y="3218688"/>
            <a:ext cx="4114800" cy="137160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3814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401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Shape India's Healthcare Future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56048" y="38770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FA0"/>
                </a:solidFill>
              </a:rPr>
              <a:t>Backing the right diagnostics, medtech, and care-delivery startups puts you at the forefront of healthcare innovation — not just as a practitioner, but as an architect.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0" y="4663440"/>
            <a:ext cx="9144000" cy="292608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2E1F"/>
                </a:solidFill>
              </a:rPr>
              <a:t>The question isn't whether doctors should invest in startups. It's whether they can afford not 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9943A"/>
                </a:solidFill>
              </a:rPr>
              <a:t>Section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Healthcare Angel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Network (HAN)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BFA0"/>
                </a:solidFill>
              </a:rPr>
              <a:t>Powered by Finnovate — built for doctors, focused on healthcare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6B5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C8B8"/>
                </a:solidFill>
              </a:rPr>
              <a:t>SECTION 2  ›  Healthcare Angel Network (HAN)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1264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E1F"/>
                </a:solidFill>
              </a:rPr>
              <a:t>Healthcare Angel Network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943A"/>
                </a:solidFill>
              </a:rPr>
              <a:t>Powered by Finnovate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08760"/>
            <a:ext cx="2651760" cy="91440"/>
          </a:xfrm>
          <a:prstGeom prst="rect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6459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D35"/>
                </a:solidFill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" y="208483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F"/>
                </a:solidFill>
              </a:rPr>
              <a:t>Exclusively For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2E1F"/>
                </a:solidFill>
              </a:rPr>
              <a:t>Top Doctors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" y="2770632"/>
            <a:ext cx="411480" cy="36576"/>
          </a:xfrm>
          <a:prstGeom prst="rect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88036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</a:rPr>
              <a:t>Membership is by invitation only, available to doctors with networth above a defined threshold — part of the FinancialOPD community.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15087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508760"/>
            <a:ext cx="2651760" cy="9144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6459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43A"/>
                </a:solidFill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19272" y="208483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F"/>
                </a:solidFill>
              </a:rPr>
              <a:t>100% Healthcare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2E1F"/>
                </a:solidFill>
              </a:rPr>
              <a:t>Startups Only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19272" y="2770632"/>
            <a:ext cx="41148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88036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</a:rPr>
              <a:t>Every deal on HAN is in healthcare — diagnostics, medtech, digital health, surgical care, pharmatech. Sectors you understand best.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15087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9320" y="1508760"/>
            <a:ext cx="2651760" cy="91440"/>
          </a:xfrm>
          <a:prstGeom prst="rect">
            <a:avLst/>
          </a:prstGeom>
          <a:solidFill>
            <a:srgbClr val="4A7A8E"/>
          </a:solidFill>
          <a:ln w="12700">
            <a:solidFill>
              <a:srgbClr val="4A7A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16459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A8E"/>
                </a:solidFill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53912" y="208483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F"/>
                </a:solidFill>
              </a:rPr>
              <a:t>A Premium Member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2E1F"/>
                </a:solidFill>
              </a:rPr>
              <a:t>Experience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53912" y="2770632"/>
            <a:ext cx="411480" cy="36576"/>
          </a:xfrm>
          <a:prstGeom prst="rect">
            <a:avLst/>
          </a:prstGeom>
          <a:solidFill>
            <a:srgbClr val="4A7A8E"/>
          </a:solidFill>
          <a:ln w="12700">
            <a:solidFill>
              <a:srgbClr val="4A7A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288036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</a:rPr>
              <a:t>Curated deal sessions per city. Rigorous deal evaluation. A peer circle of India's leading physicians. No mass-market noise.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solidFill>
            <a:srgbClr val="E8F3EE"/>
          </a:solidFill>
          <a:ln w="6350">
            <a:solidFill>
              <a:srgbClr val="2A6E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2E1F"/>
                </a:solidFill>
              </a:rPr>
              <a:t>HAN is not an investment platform. It is a curated community of medical minds building India's healthcare future.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C8B8"/>
                </a:solidFill>
              </a:rPr>
              <a:t>SECTION 2  ›  Why HAN is Different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126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E1F"/>
                </a:solidFill>
              </a:rPr>
              <a:t>No Established Network is Built for Healthcare Doctors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68"/>
                </a:solidFill>
              </a:rPr>
              <a:t>Analysis of India's leading angel networks — none are exclusively healthcare-focused or doctor-centric.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463040"/>
                <a:gridCol w="1463040"/>
                <a:gridCol w="16459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Network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HC Deals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Doctor-Centric?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Invitation Only?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City Chapters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Indian Angel Network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~11%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Multi-city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Mumbai Angels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~9%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Multi-city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Venture Catalysts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~10%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Multi-city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Inflection Point Ventures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~12%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Pan-India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LetsVenture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~9%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Online only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The Chennai Angels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~13%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Single 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ah! Ventures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~5%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Multi-city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9943A"/>
                          </a:solidFill>
                        </a:rPr>
                        <a:t>HAN (Powered by Finnovate)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943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943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943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943A"/>
                          </a:solidFill>
                        </a:rPr>
                        <a:t>Top metro cities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0F2E1F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43A"/>
                </a:solidFill>
              </a:rPr>
              <a:t>HAN is the only network in India dedicated exclusively to healthcare deals and doctor-members — a genuine white space.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Who Can Join HAN?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BFA0"/>
                </a:solidFill>
              </a:rPr>
              <a:t>Membership is exclusive — and intentionally so.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4069080" cy="82296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44752"/>
            <a:ext cx="91440" cy="82296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087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EA0"/>
                </a:solidFill>
              </a:rPr>
              <a:t>Community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81051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FinancialOPD Members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4069080" cy="82296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50592"/>
            <a:ext cx="91440" cy="82296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146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EA0"/>
                </a:solidFill>
              </a:rPr>
              <a:t>Profession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8163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Practicing Doctors (MD / MS / DM / MCh)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4069080" cy="82296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56432"/>
            <a:ext cx="91440" cy="82296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204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EA0"/>
                </a:solidFill>
              </a:rPr>
              <a:t>Net Worth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8221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Above a defined threshold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1444752"/>
            <a:ext cx="4069080" cy="82296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444752"/>
            <a:ext cx="91440" cy="82296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5087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EA0"/>
                </a:solidFill>
              </a:rPr>
              <a:t>Entry Mode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181051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By invitation only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2450592"/>
            <a:ext cx="4069080" cy="82296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450592"/>
            <a:ext cx="91440" cy="822960"/>
          </a:xfrm>
          <a:prstGeom prst="rect">
            <a:avLst/>
          </a:prstGeom>
          <a:solidFill>
            <a:srgbClr val="4A7A8E"/>
          </a:solidFill>
          <a:ln w="12700">
            <a:solidFill>
              <a:srgbClr val="4A7A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5146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EA0"/>
                </a:solidFill>
              </a:rPr>
              <a:t>Commitment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28163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Active participation in deal reviews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3456432"/>
            <a:ext cx="4069080" cy="822960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456432"/>
            <a:ext cx="91440" cy="822960"/>
          </a:xfrm>
          <a:prstGeom prst="rect">
            <a:avLst/>
          </a:prstGeom>
          <a:solidFill>
            <a:srgbClr val="4A7A8E"/>
          </a:solidFill>
          <a:ln w="12700">
            <a:solidFill>
              <a:srgbClr val="4A7A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5204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EA0"/>
                </a:solidFill>
              </a:rPr>
              <a:t>Horizon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38221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Minimum 3-year participation outlook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292608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Exclusivity protects the community. Every member brings both financial commitment and clinical credibility.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9943A"/>
                </a:solidFill>
              </a:rPr>
              <a:t>Section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Rigorous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Due Diligence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BFA0"/>
                </a:solidFill>
              </a:rPr>
              <a:t>Every deal is stress-tested before it reaches your 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6B5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C8B8"/>
                </a:solidFill>
              </a:rPr>
              <a:t>SECTION 3  ›  Due Diligence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E1F"/>
                </a:solidFill>
              </a:rPr>
              <a:t>Our Due Diligence Framework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8412480" cy="640080"/>
          </a:xfrm>
          <a:prstGeom prst="rect">
            <a:avLst/>
          </a:prstGeom>
          <a:solidFill>
            <a:srgbClr val="0F2E1F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109728" cy="64008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43A"/>
                </a:solidFill>
              </a:rPr>
              <a:t>Specialist Tie-Ups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46304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4B8"/>
                </a:solidFill>
              </a:rPr>
              <a:t>HAN will partner with specialist firms for deal sourcing and rigorous due diligence — bringing institutional-grade evaluation to every opportunity presented to our members.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1148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965960"/>
            <a:ext cx="91440" cy="768096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039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E4B"/>
                </a:solidFill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2350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4"/>
                </a:solidFill>
              </a:rPr>
              <a:t>Clinical Viability Assessment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41148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880360"/>
            <a:ext cx="91440" cy="76809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953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43A"/>
                </a:solidFill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3264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4"/>
                </a:solidFill>
              </a:rPr>
              <a:t>Founder &amp; Team Deep-Dive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41148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94760"/>
            <a:ext cx="91440" cy="768096"/>
          </a:xfrm>
          <a:prstGeom prst="rect">
            <a:avLst/>
          </a:prstGeom>
          <a:solidFill>
            <a:srgbClr val="4A7A8E"/>
          </a:solidFill>
          <a:ln w="12700">
            <a:solidFill>
              <a:srgbClr val="4A7A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867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A8E"/>
                </a:solidFill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178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4"/>
                </a:solidFill>
              </a:rPr>
              <a:t>Market Size &amp; Competitive Moat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1965960"/>
            <a:ext cx="41148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965960"/>
            <a:ext cx="91440" cy="768096"/>
          </a:xfrm>
          <a:prstGeom prst="rect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2039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35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0328" y="2350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4"/>
                </a:solidFill>
              </a:rPr>
              <a:t>Financial Health &amp; Cap Table Review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2880360"/>
            <a:ext cx="41148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880360"/>
            <a:ext cx="91440" cy="768096"/>
          </a:xfrm>
          <a:prstGeom prst="rect">
            <a:avLst/>
          </a:prstGeom>
          <a:solidFill>
            <a:srgbClr val="5C7268"/>
          </a:solidFill>
          <a:ln w="12700">
            <a:solidFill>
              <a:srgbClr val="5C72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2953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268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0328" y="3264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4"/>
                </a:solidFill>
              </a:rPr>
              <a:t>Regulatory &amp; Compliance Check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09160" y="3794760"/>
            <a:ext cx="41148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794760"/>
            <a:ext cx="91440" cy="768096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3867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E4B"/>
                </a:solidFill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0328" y="4178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4"/>
                </a:solidFill>
              </a:rPr>
              <a:t>Doctor-Panel Advisory Sign-Off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9943A"/>
                </a:solidFill>
              </a:rPr>
              <a:t>Section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Insights from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Established Networks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BFA0"/>
                </a:solidFill>
              </a:rPr>
              <a:t>What the best angel networks do — and how HAN will apply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6B5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C8B8"/>
                </a:solidFill>
              </a:rPr>
              <a:t>SECTION 4  ›  Learnings from Top Networks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126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E1F"/>
                </a:solidFill>
              </a:rPr>
              <a:t>What India's Best Angel Networks Teach Us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88720"/>
            <a:ext cx="91440" cy="804672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80160"/>
            <a:ext cx="1463040" cy="22860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280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Mumbai Angels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3120" y="12527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4"/>
                </a:solidFill>
              </a:rPr>
              <a:t>Physical chapters in multiple cities create local deal density and community trust. Networks with strong city presence consistently outperform online-only models.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1234440"/>
            <a:ext cx="2240280" cy="713232"/>
          </a:xfrm>
          <a:prstGeom prst="rect">
            <a:avLst/>
          </a:prstGeom>
          <a:solidFill>
            <a:srgbClr val="E8F3EE"/>
          </a:solidFill>
          <a:ln w="6350">
            <a:solidFill>
              <a:srgbClr val="2A6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2527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6E4B"/>
                </a:solidFill>
              </a:rPr>
              <a:t>HAN applies →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537960" y="14356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4"/>
                </a:solidFill>
              </a:rPr>
              <a:t>HAN will launch in 5 top metro cities — physical presence is non-negotiable for doctor communities.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10312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03120"/>
            <a:ext cx="91440" cy="80467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194560"/>
            <a:ext cx="1463040" cy="2286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94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Venture Catalysts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2167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4"/>
                </a:solidFill>
              </a:rPr>
              <a:t>Networks with a sector thesis attract higher-quality founders. A healthcare focus generates more relevant deal flow and better member engagement.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2148840"/>
            <a:ext cx="2240280" cy="713232"/>
          </a:xfrm>
          <a:prstGeom prst="rect">
            <a:avLst/>
          </a:prstGeom>
          <a:solidFill>
            <a:srgbClr val="F7EDCF"/>
          </a:solidFill>
          <a:ln w="6350">
            <a:solidFill>
              <a:srgbClr val="C994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1671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943A"/>
                </a:solidFill>
              </a:rPr>
              <a:t>HAN applies →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37960" y="23500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4"/>
                </a:solidFill>
              </a:rPr>
              <a:t>100% healthcare thesis makes HAN a magnet for the best health-sector founders in India.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017520"/>
            <a:ext cx="91440" cy="804672"/>
          </a:xfrm>
          <a:prstGeom prst="rect">
            <a:avLst/>
          </a:prstGeom>
          <a:solidFill>
            <a:srgbClr val="4A7A8E"/>
          </a:solidFill>
          <a:ln w="12700">
            <a:solidFill>
              <a:srgbClr val="4A7A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108960"/>
            <a:ext cx="1463040" cy="228600"/>
          </a:xfrm>
          <a:prstGeom prst="rect">
            <a:avLst/>
          </a:prstGeom>
          <a:solidFill>
            <a:srgbClr val="4A7A8E"/>
          </a:solidFill>
          <a:ln w="12700">
            <a:solidFill>
              <a:srgbClr val="4A7A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108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Indian Angel Network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30815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4"/>
                </a:solidFill>
              </a:rPr>
              <a:t>Exclusivity (curated angels vs open platforms) leads to deeper co-investment, better governance, and stronger peer accountability.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3063240"/>
            <a:ext cx="2240280" cy="713232"/>
          </a:xfrm>
          <a:prstGeom prst="rect">
            <a:avLst/>
          </a:prstGeom>
          <a:solidFill>
            <a:srgbClr val="EBF2F8"/>
          </a:solidFill>
          <a:ln w="6350">
            <a:solidFill>
              <a:srgbClr val="4A7A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0815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7A8E"/>
                </a:solidFill>
              </a:rPr>
              <a:t>HAN applies →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37960" y="32644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4"/>
                </a:solidFill>
              </a:rPr>
              <a:t>HAN targets a curated founding member base — quality over quantity, always.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93192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931920"/>
            <a:ext cx="91440" cy="804672"/>
          </a:xfrm>
          <a:prstGeom prst="rect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023360"/>
            <a:ext cx="1463040" cy="228600"/>
          </a:xfrm>
          <a:prstGeom prst="rect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023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Chennai Angels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103120" y="39959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4"/>
                </a:solidFill>
              </a:rPr>
              <a:t>Doctor-adjacent communities achieve the highest deal relevance when investors deeply understand the domain they are backing.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3977640"/>
            <a:ext cx="2240280" cy="713232"/>
          </a:xfrm>
          <a:prstGeom prst="rect">
            <a:avLst/>
          </a:prstGeom>
          <a:solidFill>
            <a:srgbClr val="E8F3EE"/>
          </a:solidFill>
          <a:ln w="6350">
            <a:solidFill>
              <a:srgbClr val="1B4D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9959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4D35"/>
                </a:solidFill>
              </a:rPr>
              <a:t>HAN applies →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37960" y="4178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4"/>
                </a:solidFill>
              </a:rPr>
              <a:t>Doctors evaluating healthcare startups brings a level of scrutiny no generalist network can match.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9943A"/>
                </a:solidFill>
              </a:rPr>
              <a:t>Section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Opportunities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For Our Doctors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BFA0"/>
                </a:solidFill>
              </a:rPr>
              <a:t>Two distinctive advantages that no public market can offer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6B5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C8B8"/>
                </a:solidFill>
              </a:rPr>
              <a:t>SECTION 5  ›  What HAN Members Get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126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E1F"/>
                </a:solidFill>
              </a:rPr>
              <a:t>Two Transformative Opportunities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4114800" cy="3611880"/>
          </a:xfrm>
          <a:prstGeom prst="rect">
            <a:avLst/>
          </a:prstGeom>
          <a:solidFill>
            <a:srgbClr val="0F2E1F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88720"/>
            <a:ext cx="4114800" cy="9144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3258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6E4B"/>
                </a:solidFill>
              </a:rPr>
              <a:t>01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02920" y="184708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Access to Exclusive Deals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on a Preferential Basis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502920" y="2542032"/>
            <a:ext cx="1005840" cy="36576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6974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6E4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A8D4B8"/>
                </a:solidFill>
              </a:rPr>
              <a:t>First look at curated healthcare startups before they open to broader markets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31363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6E4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A8D4B8"/>
                </a:solidFill>
              </a:rPr>
              <a:t>Preferential allocation — HAN members get priority terms over later-stage investors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2920" y="35753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6E4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A8D4B8"/>
                </a:solidFill>
              </a:rPr>
              <a:t>Quarterly curated deal flow across city chapters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401421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6E4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A8D4B8"/>
                </a:solidFill>
              </a:rPr>
              <a:t>Deals evaluated by specialist firms and doctor-advisory panel before presentation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1188720"/>
            <a:ext cx="4114800" cy="3611880"/>
          </a:xfrm>
          <a:prstGeom prst="rect">
            <a:avLst/>
          </a:prstGeom>
          <a:solidFill>
            <a:srgbClr val="0B2A0F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09160" y="1188720"/>
            <a:ext cx="4114800" cy="9144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94960" y="13258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943A"/>
                </a:solidFill>
              </a:rPr>
              <a:t>02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4892040" y="184708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Mentorship Opportunity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In Your Domain of Expertise</a:t>
            </a:r>
            <a:endParaRPr lang="en-US" sz="1550" dirty="0"/>
          </a:p>
        </p:txBody>
      </p:sp>
      <p:sp>
        <p:nvSpPr>
          <p:cNvPr id="25" name="Shape 21"/>
          <p:cNvSpPr/>
          <p:nvPr/>
        </p:nvSpPr>
        <p:spPr>
          <a:xfrm>
            <a:off x="4892040" y="2542032"/>
            <a:ext cx="100584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92040" y="26974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43A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A8C87A"/>
                </a:solidFill>
              </a:rPr>
              <a:t>Advise healthcare startups on clinical protocols, patient pathways and product direction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892040" y="31363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43A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A8C87A"/>
                </a:solidFill>
              </a:rPr>
              <a:t>Earn advisory equity in startups you mentor — returns beyond your cash invested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892040" y="35753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43A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A8C87A"/>
                </a:solidFill>
              </a:rPr>
              <a:t>Help shape India's next generation of health-tech products from the inside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892040" y="401421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43A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A8C87A"/>
                </a:solidFill>
              </a:rPr>
              <a:t>Build a legacy beyond your practice — become an architect of healthcare innovation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A6E4B"/>
                </a:solidFill>
              </a:rPr>
              <a:t>A Personal Appeal From the Founders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Build This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With Us.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6576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432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DDD0"/>
                </a:solidFill>
              </a:rPr>
              <a:t>Today, we invite each of you — our partners in Finnovate — to become Founding Pillars of HAN. This is not just an investment opportunity. It is a chance to shape a community that will define how India's best doctors build wealth and legacy.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919472"/>
            <a:ext cx="5943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Finnovate  |  FinancialOPD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19472"/>
            <a:ext cx="457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C7E"/>
                </a:solidFill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 Need 500 Founding Pillars.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BFA0"/>
                </a:solidFill>
              </a:rPr>
              <a:t>Founding Pillars are the core architects of HAN — doctors who don't just join, but shape the community.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560320" cy="2377440"/>
          </a:xfrm>
          <a:prstGeom prst="rect">
            <a:avLst/>
          </a:prstGeom>
          <a:solidFill>
            <a:srgbClr val="0D2419"/>
          </a:solidFill>
          <a:ln w="19050">
            <a:solidFill>
              <a:srgbClr val="C9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C9943A"/>
                </a:solidFill>
              </a:rPr>
              <a:t>500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Founding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Pillars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BEA0"/>
                </a:solidFill>
              </a:rPr>
              <a:t>Goal — Year 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737360"/>
            <a:ext cx="5577840" cy="850392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737360"/>
            <a:ext cx="91440" cy="850392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8013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E4B"/>
                </a:solidFill>
              </a:rPr>
              <a:t>1st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77640" y="1801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Join as a Founding Pillar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1762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FA0"/>
                </a:solidFill>
              </a:rPr>
              <a:t>Register as a HAN member. Be among the first to review and back curated healthcare deals as they come to the table.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724912"/>
            <a:ext cx="5577840" cy="850392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2724912"/>
            <a:ext cx="91440" cy="850392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7889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E4B"/>
                </a:solidFill>
              </a:rPr>
              <a:t>2nd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77640" y="2788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Invite Your Top Peers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316382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FA0"/>
                </a:solidFill>
              </a:rPr>
              <a:t>Each of you knows doctors of the right stature, networth, and appetite. We need your personal introduction to bring the right people in.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712464"/>
            <a:ext cx="5577840" cy="850392"/>
          </a:xfrm>
          <a:prstGeom prst="rect">
            <a:avLst/>
          </a:prstGeom>
          <a:solidFill>
            <a:srgbClr val="0D2419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3712464"/>
            <a:ext cx="91440" cy="850392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776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E4B"/>
                </a:solidFill>
              </a:rPr>
              <a:t>3rd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77640" y="3776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Help Shape the Network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29000" y="415137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FA0"/>
                </a:solidFill>
              </a:rPr>
              <a:t>Your insights — as clinicians — will help define deal criteria, sector focus, and the kind of community HAN becomes.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681728"/>
            <a:ext cx="9144000" cy="2743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F2E1F"/>
                </a:solidFill>
              </a:rPr>
              <a:t>The best time to build India's premier doctor-angel network was yesterday. The second best time is today.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01768"/>
            <a:ext cx="9144000" cy="9144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10328"/>
            <a:ext cx="9144000" cy="9144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2194560" cy="45720"/>
          </a:xfrm>
          <a:prstGeom prst="rect">
            <a:avLst/>
          </a:prstGeom>
          <a:solidFill>
            <a:srgbClr val="2A6E4B"/>
          </a:solidFill>
          <a:ln w="12700">
            <a:solidFill>
              <a:srgbClr val="2A6E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042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C9943A"/>
                </a:solidFill>
              </a:rPr>
              <a:t>Finnovate  |  FinancialOPD  |  HAN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BFA0"/>
                </a:solidFill>
              </a:rPr>
              <a:t>Together, let us build the community that shapes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8ABFA0"/>
                </a:solidFill>
              </a:rPr>
              <a:t>the future of healthcare in India.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4315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B50"/>
                </a:solidFill>
              </a:rPr>
              <a:t>Concept Presentation  |  Confidential  |  Not for distribution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Finnovate | Healthcare Angel Network</dc:title>
  <dc:subject>PptxGenJS Presentation</dc:subject>
  <dc:creator>Finnovate</dc:creator>
  <cp:lastModifiedBy>Finnovate</cp:lastModifiedBy>
  <cp:revision>1</cp:revision>
  <dcterms:created xsi:type="dcterms:W3CDTF">2026-03-27T07:51:47Z</dcterms:created>
  <dcterms:modified xsi:type="dcterms:W3CDTF">2026-03-27T07:51:47Z</dcterms:modified>
</cp:coreProperties>
</file>